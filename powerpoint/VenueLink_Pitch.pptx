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Michael, and this is VenueLink. We're building a marketplace that connects student organizations with local venues for event bookings. We're making it fast and easy for student groups to find and book bars, restaurants, and event spaces.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know this problem intimately because we've lived it. As fraternity brothers, we've spent countless hours calling bar after bar trying to find one with availability for our events. Student organizations waste time on email and phone tag with no centralized way to compare venues or check availability. Meanwhile, venues struggle with disorganized communication, no formal booking process, and difficulty reaching student groups. There's no platform connecting these two sides.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VenueLink is a centralized marketplace that solves this problem. Student organizations can browse all available venues in one place, filter by their needs like capacity and price, submit booking requests with their event details, and once a venue accepts, pay a booking fee to confirm. It's like Airbnb but designed specifically for student organizations and local venues. We've already built a working authentication system and student dashboard that you can see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we've built so far. We have a fully functional authentication system that verifies .edu emails, a working student organization dashboard, a complete backend API for venue management, and our database schema. We're using modern technologies like React, TypeScript, FastAPI, and PostgreSQL with an AI-powered development workflow. What's left to build includes the venue discovery page, the full booking request flow, and the venue admin dashboard. For validation, we've prepared comprehensive surveys and are planning to interview over 10 bars and 10 student organizations at Ohio State to validate our assumptions before full launch.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are we building this? Because we've lived it. We're fraternity brothers at Ohio State, and we've personally experienced the pain of spending hours calling bar after bar trying to find one with availability for our events. We understand this problem intimately because we ARE the customer. We have a unique perspective as both the people experiencing the pain and the technical skills to solve it. The market opportunity is significant - there are hundreds of student organizations at every major university, each booking multiple events per semester. Venues want this consistent business from student groups, but there's no centralized platform connecting them. That's what we're building.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Michael Gorman and Larry Stelzer, and we're building VenueLink. Our immediate next steps are to finish the core booking flow in the next two weeks, conduct validation interviews with student organizations and venues, onboard our first partners, and launch a beta at Ohio State within three months. We're looking for early venue partners who want to reach more student organizations and student org leaders who want to help shape this platform. If you're interested in learning more or getting involved, let's connect.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TextBox 1"/>
          <p:cNvSpPr txBox="1"/>
          <p:nvPr/>
        </p:nvSpPr>
        <p:spPr>
          <a:xfrm>
            <a:off x="914400" y="1371600"/>
            <a:ext cx="7315200" cy="731520"/>
          </a:xfrm>
          <a:prstGeom prst="rect">
            <a:avLst/>
          </a:prstGeom>
          <a:noFill/>
        </p:spPr>
        <p:txBody>
          <a:bodyPr wrap="none">
            <a:spAutoFit/>
          </a:bodyPr>
          <a:lstStyle/>
          <a:p>
            <a:pPr algn="ctr">
              <a:defRPr sz="6400" b="1">
                <a:solidFill>
                  <a:srgbClr val="FFFFFF"/>
                </a:solidFill>
              </a:defRPr>
            </a:pPr>
            <a:r>
              <a:t>VenueLink</a:t>
            </a:r>
          </a:p>
        </p:txBody>
      </p:sp>
      <p:sp>
        <p:nvSpPr>
          <p:cNvPr id="3" name="TextBox 2"/>
          <p:cNvSpPr txBox="1"/>
          <p:nvPr/>
        </p:nvSpPr>
        <p:spPr>
          <a:xfrm>
            <a:off x="914400" y="2194560"/>
            <a:ext cx="7315200" cy="365760"/>
          </a:xfrm>
          <a:prstGeom prst="rect">
            <a:avLst/>
          </a:prstGeom>
          <a:noFill/>
        </p:spPr>
        <p:txBody>
          <a:bodyPr wrap="none">
            <a:spAutoFit/>
          </a:bodyPr>
          <a:lstStyle/>
          <a:p>
            <a:pPr algn="ctr">
              <a:defRPr sz="2200">
                <a:solidFill>
                  <a:srgbClr val="888888"/>
                </a:solidFill>
              </a:defRPr>
            </a:pPr>
            <a:r>
              <a:t>Connecting Student Organizations with Local Venues</a:t>
            </a:r>
          </a:p>
        </p:txBody>
      </p:sp>
      <p:sp>
        <p:nvSpPr>
          <p:cNvPr id="4" name="TextBox 3"/>
          <p:cNvSpPr txBox="1"/>
          <p:nvPr/>
        </p:nvSpPr>
        <p:spPr>
          <a:xfrm>
            <a:off x="914400" y="2743200"/>
            <a:ext cx="7315200" cy="365760"/>
          </a:xfrm>
          <a:prstGeom prst="rect">
            <a:avLst/>
          </a:prstGeom>
          <a:noFill/>
        </p:spPr>
        <p:txBody>
          <a:bodyPr wrap="none">
            <a:spAutoFit/>
          </a:bodyPr>
          <a:lstStyle/>
          <a:p>
            <a:pPr algn="ctr">
              <a:defRPr sz="1800">
                <a:solidFill>
                  <a:srgbClr val="888888"/>
                </a:solidFill>
              </a:defRPr>
            </a:pPr>
            <a:r>
              <a:t>A Marketplace for Event Venue Rentals</a:t>
            </a:r>
          </a:p>
        </p:txBody>
      </p:sp>
      <p:sp>
        <p:nvSpPr>
          <p:cNvPr id="5" name="TextBox 4"/>
          <p:cNvSpPr txBox="1"/>
          <p:nvPr/>
        </p:nvSpPr>
        <p:spPr>
          <a:xfrm>
            <a:off x="914400" y="3840480"/>
            <a:ext cx="7315200" cy="365760"/>
          </a:xfrm>
          <a:prstGeom prst="rect">
            <a:avLst/>
          </a:prstGeom>
          <a:noFill/>
        </p:spPr>
        <p:txBody>
          <a:bodyPr wrap="none">
            <a:spAutoFit/>
          </a:bodyPr>
          <a:lstStyle/>
          <a:p>
            <a:pPr algn="ctr">
              <a:defRPr sz="1600">
                <a:solidFill>
                  <a:srgbClr val="FFFFFF"/>
                </a:solidFill>
              </a:defRPr>
            </a:pPr>
            <a:r>
              <a:t>Michael Gorman &amp; Larry Stelzer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lgn="ctr">
              <a:defRPr sz="3600" b="1">
                <a:solidFill>
                  <a:srgbClr val="FFFFFF"/>
                </a:solidFill>
              </a:defRPr>
            </a:pPr>
            <a:r>
              <a:t>The Problem: Coordination Chaos</a:t>
            </a:r>
          </a:p>
        </p:txBody>
      </p:sp>
      <p:sp>
        <p:nvSpPr>
          <p:cNvPr id="3" name="TextBox 2"/>
          <p:cNvSpPr txBox="1"/>
          <p:nvPr/>
        </p:nvSpPr>
        <p:spPr>
          <a:xfrm>
            <a:off x="914400" y="914400"/>
            <a:ext cx="7315200" cy="457200"/>
          </a:xfrm>
          <a:prstGeom prst="rect">
            <a:avLst/>
          </a:prstGeom>
          <a:noFill/>
        </p:spPr>
        <p:txBody>
          <a:bodyPr wrap="none">
            <a:spAutoFit/>
          </a:bodyPr>
          <a:lstStyle/>
          <a:p>
            <a:pPr algn="ctr">
              <a:defRPr sz="1800" i="1">
                <a:solidFill>
                  <a:srgbClr val="888888"/>
                </a:solidFill>
              </a:defRPr>
            </a:pPr>
            <a:r>
              <a:t>As fraternity brothers, we've experienced this problem firsthand</a:t>
            </a:r>
          </a:p>
        </p:txBody>
      </p:sp>
      <p:sp>
        <p:nvSpPr>
          <p:cNvPr id="4" name="TextBox 3"/>
          <p:cNvSpPr txBox="1"/>
          <p:nvPr/>
        </p:nvSpPr>
        <p:spPr>
          <a:xfrm>
            <a:off x="731520" y="1645920"/>
            <a:ext cx="3657600" cy="365760"/>
          </a:xfrm>
          <a:prstGeom prst="rect">
            <a:avLst/>
          </a:prstGeom>
          <a:noFill/>
        </p:spPr>
        <p:txBody>
          <a:bodyPr wrap="none">
            <a:spAutoFit/>
          </a:bodyPr>
          <a:lstStyle/>
          <a:p>
            <a:pPr algn="ctr">
              <a:defRPr sz="2200" b="1">
                <a:solidFill>
                  <a:srgbClr val="FFFFFF"/>
                </a:solidFill>
              </a:defRPr>
            </a:pPr>
            <a:r>
              <a:t>Student Organizations</a:t>
            </a:r>
          </a:p>
        </p:txBody>
      </p:sp>
      <p:sp>
        <p:nvSpPr>
          <p:cNvPr id="5" name="TextBox 4"/>
          <p:cNvSpPr txBox="1"/>
          <p:nvPr/>
        </p:nvSpPr>
        <p:spPr>
          <a:xfrm>
            <a:off x="731520" y="2194560"/>
            <a:ext cx="3657600" cy="2926080"/>
          </a:xfrm>
          <a:prstGeom prst="rect">
            <a:avLst/>
          </a:prstGeom>
          <a:noFill/>
        </p:spPr>
        <p:txBody>
          <a:bodyPr wrap="square">
            <a:spAutoFit/>
          </a:bodyPr>
          <a:lstStyle/>
          <a:p>
            <a:pPr>
              <a:spcAft>
                <a:spcPts val="1000"/>
              </a:spcAft>
              <a:defRPr sz="1500">
                <a:solidFill>
                  <a:srgbClr val="FFFFFF"/>
                </a:solidFill>
              </a:defRPr>
            </a:pPr>
            <a:r>
              <a:t>• Hours spent calling/emailing venues</a:t>
            </a:r>
          </a:p>
          <a:p>
            <a:pPr>
              <a:spcAft>
                <a:spcPts val="1000"/>
              </a:spcAft>
              <a:defRPr sz="1500">
                <a:solidFill>
                  <a:srgbClr val="FFFFFF"/>
                </a:solidFill>
              </a:defRPr>
            </a:pPr>
            <a:r>
              <a:t>• No way to compare options easily</a:t>
            </a:r>
          </a:p>
          <a:p>
            <a:pPr>
              <a:spcAft>
                <a:spcPts val="1000"/>
              </a:spcAft>
              <a:defRPr sz="1500">
                <a:solidFill>
                  <a:srgbClr val="FFFFFF"/>
                </a:solidFill>
              </a:defRPr>
            </a:pPr>
            <a:r>
              <a:t>• Unclear pricing and availability</a:t>
            </a:r>
          </a:p>
          <a:p>
            <a:pPr>
              <a:spcAft>
                <a:spcPts val="1000"/>
              </a:spcAft>
              <a:defRPr sz="1500">
                <a:solidFill>
                  <a:srgbClr val="FFFFFF"/>
                </a:solidFill>
              </a:defRPr>
            </a:pPr>
            <a:r>
              <a:t>• Disorganized booking tracking</a:t>
            </a:r>
          </a:p>
          <a:p>
            <a:pPr>
              <a:spcAft>
                <a:spcPts val="1000"/>
              </a:spcAft>
              <a:defRPr sz="1500">
                <a:solidFill>
                  <a:srgbClr val="FFFFFF"/>
                </a:solidFill>
              </a:defRPr>
            </a:pPr>
            <a:r>
              <a:t>• Last-minute scrambling for events</a:t>
            </a:r>
          </a:p>
        </p:txBody>
      </p:sp>
      <p:sp>
        <p:nvSpPr>
          <p:cNvPr id="6" name="TextBox 5"/>
          <p:cNvSpPr txBox="1"/>
          <p:nvPr/>
        </p:nvSpPr>
        <p:spPr>
          <a:xfrm>
            <a:off x="4754880" y="1645920"/>
            <a:ext cx="3657600" cy="365760"/>
          </a:xfrm>
          <a:prstGeom prst="rect">
            <a:avLst/>
          </a:prstGeom>
          <a:noFill/>
        </p:spPr>
        <p:txBody>
          <a:bodyPr wrap="none">
            <a:spAutoFit/>
          </a:bodyPr>
          <a:lstStyle/>
          <a:p>
            <a:pPr algn="ctr">
              <a:defRPr sz="2200" b="1">
                <a:solidFill>
                  <a:srgbClr val="FFFFFF"/>
                </a:solidFill>
              </a:defRPr>
            </a:pPr>
            <a:r>
              <a:t>Local Venues</a:t>
            </a:r>
          </a:p>
        </p:txBody>
      </p:sp>
      <p:sp>
        <p:nvSpPr>
          <p:cNvPr id="7" name="TextBox 6"/>
          <p:cNvSpPr txBox="1"/>
          <p:nvPr/>
        </p:nvSpPr>
        <p:spPr>
          <a:xfrm>
            <a:off x="4754880" y="2194560"/>
            <a:ext cx="3657600" cy="2926080"/>
          </a:xfrm>
          <a:prstGeom prst="rect">
            <a:avLst/>
          </a:prstGeom>
          <a:noFill/>
        </p:spPr>
        <p:txBody>
          <a:bodyPr wrap="square">
            <a:spAutoFit/>
          </a:bodyPr>
          <a:lstStyle/>
          <a:p>
            <a:pPr>
              <a:spcAft>
                <a:spcPts val="1000"/>
              </a:spcAft>
              <a:defRPr sz="1500">
                <a:solidFill>
                  <a:srgbClr val="FFFFFF"/>
                </a:solidFill>
              </a:defRPr>
            </a:pPr>
            <a:r>
              <a:t>• Time-consuming coordination</a:t>
            </a:r>
          </a:p>
          <a:p>
            <a:pPr>
              <a:spcAft>
                <a:spcPts val="1000"/>
              </a:spcAft>
              <a:defRPr sz="1500">
                <a:solidFill>
                  <a:srgbClr val="FFFFFF"/>
                </a:solidFill>
              </a:defRPr>
            </a:pPr>
            <a:r>
              <a:t>• No formal booking system</a:t>
            </a:r>
          </a:p>
          <a:p>
            <a:pPr>
              <a:spcAft>
                <a:spcPts val="1000"/>
              </a:spcAft>
              <a:defRPr sz="1500">
                <a:solidFill>
                  <a:srgbClr val="FFFFFF"/>
                </a:solidFill>
              </a:defRPr>
            </a:pPr>
            <a:r>
              <a:t>• Payment and no-show issues</a:t>
            </a:r>
          </a:p>
          <a:p>
            <a:pPr>
              <a:spcAft>
                <a:spcPts val="1000"/>
              </a:spcAft>
              <a:defRPr sz="1500">
                <a:solidFill>
                  <a:srgbClr val="FFFFFF"/>
                </a:solidFill>
              </a:defRPr>
            </a:pPr>
            <a:r>
              <a:t>• Difficult to reach student groups</a:t>
            </a:r>
          </a:p>
          <a:p>
            <a:pPr>
              <a:spcAft>
                <a:spcPts val="1000"/>
              </a:spcAft>
              <a:defRPr sz="1500">
                <a:solidFill>
                  <a:srgbClr val="FFFFFF"/>
                </a:solidFill>
              </a:defRPr>
            </a:pPr>
            <a:r>
              <a:t>• Missed revenue opportunities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lgn="ctr">
              <a:defRPr sz="3600" b="1">
                <a:solidFill>
                  <a:srgbClr val="FFFFFF"/>
                </a:solidFill>
              </a:defRPr>
            </a:pPr>
            <a:r>
              <a:t>The Solution: VenueLink Marketplace</a:t>
            </a:r>
          </a:p>
        </p:txBody>
      </p:sp>
      <p:sp>
        <p:nvSpPr>
          <p:cNvPr id="3" name="TextBox 2"/>
          <p:cNvSpPr txBox="1"/>
          <p:nvPr/>
        </p:nvSpPr>
        <p:spPr>
          <a:xfrm>
            <a:off x="914400" y="868680"/>
            <a:ext cx="2560320" cy="457200"/>
          </a:xfrm>
          <a:prstGeom prst="rect">
            <a:avLst/>
          </a:prstGeom>
          <a:noFill/>
        </p:spPr>
        <p:txBody>
          <a:bodyPr wrap="none">
            <a:spAutoFit/>
          </a:bodyPr>
          <a:lstStyle/>
          <a:p>
            <a:pPr algn="ctr">
              <a:defRPr sz="1800" b="1">
                <a:solidFill>
                  <a:srgbClr val="FFFFFF"/>
                </a:solidFill>
              </a:defRPr>
            </a:pPr>
            <a:r>
              <a:t>1. Discover</a:t>
            </a:r>
          </a:p>
        </p:txBody>
      </p:sp>
      <p:sp>
        <p:nvSpPr>
          <p:cNvPr id="4" name="TextBox 3"/>
          <p:cNvSpPr txBox="1"/>
          <p:nvPr/>
        </p:nvSpPr>
        <p:spPr>
          <a:xfrm>
            <a:off x="914400" y="1234440"/>
            <a:ext cx="2560320" cy="274320"/>
          </a:xfrm>
          <a:prstGeom prst="rect">
            <a:avLst/>
          </a:prstGeom>
          <a:noFill/>
        </p:spPr>
        <p:txBody>
          <a:bodyPr wrap="square">
            <a:spAutoFit/>
          </a:bodyPr>
          <a:lstStyle/>
          <a:p>
            <a:pPr algn="ctr">
              <a:defRPr sz="1300">
                <a:solidFill>
                  <a:srgbClr val="888888"/>
                </a:solidFill>
              </a:defRPr>
            </a:pPr>
            <a:r>
              <a:t>Browse venues with filters</a:t>
            </a:r>
          </a:p>
        </p:txBody>
      </p:sp>
      <p:sp>
        <p:nvSpPr>
          <p:cNvPr id="5" name="TextBox 4"/>
          <p:cNvSpPr txBox="1"/>
          <p:nvPr/>
        </p:nvSpPr>
        <p:spPr>
          <a:xfrm>
            <a:off x="3749039" y="868680"/>
            <a:ext cx="2560320" cy="457200"/>
          </a:xfrm>
          <a:prstGeom prst="rect">
            <a:avLst/>
          </a:prstGeom>
          <a:noFill/>
        </p:spPr>
        <p:txBody>
          <a:bodyPr wrap="none">
            <a:spAutoFit/>
          </a:bodyPr>
          <a:lstStyle/>
          <a:p>
            <a:pPr algn="ctr">
              <a:defRPr sz="1800" b="1">
                <a:solidFill>
                  <a:srgbClr val="FFFFFF"/>
                </a:solidFill>
              </a:defRPr>
            </a:pPr>
            <a:r>
              <a:t>2. Request</a:t>
            </a:r>
          </a:p>
        </p:txBody>
      </p:sp>
      <p:sp>
        <p:nvSpPr>
          <p:cNvPr id="6" name="TextBox 5"/>
          <p:cNvSpPr txBox="1"/>
          <p:nvPr/>
        </p:nvSpPr>
        <p:spPr>
          <a:xfrm>
            <a:off x="3749039" y="1234440"/>
            <a:ext cx="2560320" cy="274320"/>
          </a:xfrm>
          <a:prstGeom prst="rect">
            <a:avLst/>
          </a:prstGeom>
          <a:noFill/>
        </p:spPr>
        <p:txBody>
          <a:bodyPr wrap="square">
            <a:spAutoFit/>
          </a:bodyPr>
          <a:lstStyle/>
          <a:p>
            <a:pPr algn="ctr">
              <a:defRPr sz="1300">
                <a:solidFill>
                  <a:srgbClr val="888888"/>
                </a:solidFill>
              </a:defRPr>
            </a:pPr>
            <a:r>
              <a:t>Submit booking details</a:t>
            </a:r>
          </a:p>
        </p:txBody>
      </p:sp>
      <p:sp>
        <p:nvSpPr>
          <p:cNvPr id="7" name="TextBox 6"/>
          <p:cNvSpPr txBox="1"/>
          <p:nvPr/>
        </p:nvSpPr>
        <p:spPr>
          <a:xfrm>
            <a:off x="6583679" y="868680"/>
            <a:ext cx="2560320" cy="457200"/>
          </a:xfrm>
          <a:prstGeom prst="rect">
            <a:avLst/>
          </a:prstGeom>
          <a:noFill/>
        </p:spPr>
        <p:txBody>
          <a:bodyPr wrap="none">
            <a:spAutoFit/>
          </a:bodyPr>
          <a:lstStyle/>
          <a:p>
            <a:pPr algn="ctr">
              <a:defRPr sz="1800" b="1">
                <a:solidFill>
                  <a:srgbClr val="FFFFFF"/>
                </a:solidFill>
              </a:defRPr>
            </a:pPr>
            <a:r>
              <a:t>3. Confirm</a:t>
            </a:r>
          </a:p>
        </p:txBody>
      </p:sp>
      <p:sp>
        <p:nvSpPr>
          <p:cNvPr id="8" name="TextBox 7"/>
          <p:cNvSpPr txBox="1"/>
          <p:nvPr/>
        </p:nvSpPr>
        <p:spPr>
          <a:xfrm>
            <a:off x="6583679" y="1234440"/>
            <a:ext cx="2560320" cy="274320"/>
          </a:xfrm>
          <a:prstGeom prst="rect">
            <a:avLst/>
          </a:prstGeom>
          <a:noFill/>
        </p:spPr>
        <p:txBody>
          <a:bodyPr wrap="square">
            <a:spAutoFit/>
          </a:bodyPr>
          <a:lstStyle/>
          <a:p>
            <a:pPr algn="ctr">
              <a:defRPr sz="1300">
                <a:solidFill>
                  <a:srgbClr val="888888"/>
                </a:solidFill>
              </a:defRPr>
            </a:pPr>
            <a:r>
              <a:t>Pay and get confirmed</a:t>
            </a:r>
          </a:p>
        </p:txBody>
      </p:sp>
      <p:sp>
        <p:nvSpPr>
          <p:cNvPr id="9" name="TextBox 8"/>
          <p:cNvSpPr txBox="1"/>
          <p:nvPr/>
        </p:nvSpPr>
        <p:spPr>
          <a:xfrm>
            <a:off x="457200" y="1828800"/>
            <a:ext cx="8229600" cy="274320"/>
          </a:xfrm>
          <a:prstGeom prst="rect">
            <a:avLst/>
          </a:prstGeom>
          <a:noFill/>
        </p:spPr>
        <p:txBody>
          <a:bodyPr wrap="none">
            <a:spAutoFit/>
          </a:bodyPr>
          <a:lstStyle/>
          <a:p>
            <a:pPr algn="ctr">
              <a:defRPr sz="2000" b="1">
                <a:solidFill>
                  <a:srgbClr val="FFFFFF"/>
                </a:solidFill>
              </a:defRPr>
            </a:pPr>
            <a:r>
              <a:t>What We've Built:</a:t>
            </a:r>
          </a:p>
        </p:txBody>
      </p:sp>
      <p:sp>
        <p:nvSpPr>
          <p:cNvPr id="10" name="Rounded Rectangle 9"/>
          <p:cNvSpPr/>
          <p:nvPr/>
        </p:nvSpPr>
        <p:spPr>
          <a:xfrm>
            <a:off x="914400" y="2286000"/>
            <a:ext cx="3840480" cy="2194560"/>
          </a:xfrm>
          <a:prstGeom prst="roundRect">
            <a:avLst/>
          </a:prstGeom>
          <a:solidFill>
            <a:srgbClr val="1A1A1A"/>
          </a:solidFill>
          <a:ln>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888888"/>
                </a:solidFill>
              </a:defRPr>
            </a:pPr>
            <a:r>
              <a:t>[Login Page Screenshot]</a:t>
            </a:r>
          </a:p>
        </p:txBody>
      </p:sp>
      <p:sp>
        <p:nvSpPr>
          <p:cNvPr id="11" name="Rounded Rectangle 10"/>
          <p:cNvSpPr/>
          <p:nvPr/>
        </p:nvSpPr>
        <p:spPr>
          <a:xfrm>
            <a:off x="5303520" y="2286000"/>
            <a:ext cx="3840480" cy="2194560"/>
          </a:xfrm>
          <a:prstGeom prst="roundRect">
            <a:avLst/>
          </a:prstGeom>
          <a:solidFill>
            <a:srgbClr val="1A1A1A"/>
          </a:solidFill>
          <a:ln>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888888"/>
                </a:solidFill>
              </a:defRPr>
            </a:pPr>
            <a:r>
              <a:t>[Student Org Dashboard Screenshot]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lgn="ctr">
              <a:defRPr sz="3600" b="1">
                <a:solidFill>
                  <a:srgbClr val="FFFFFF"/>
                </a:solidFill>
              </a:defRPr>
            </a:pPr>
            <a:r>
              <a:t>Current Progress</a:t>
            </a:r>
          </a:p>
        </p:txBody>
      </p:sp>
      <p:sp>
        <p:nvSpPr>
          <p:cNvPr id="3" name="TextBox 2"/>
          <p:cNvSpPr txBox="1"/>
          <p:nvPr/>
        </p:nvSpPr>
        <p:spPr>
          <a:xfrm>
            <a:off x="731520" y="1005840"/>
            <a:ext cx="3840480" cy="365760"/>
          </a:xfrm>
          <a:prstGeom prst="rect">
            <a:avLst/>
          </a:prstGeom>
          <a:noFill/>
        </p:spPr>
        <p:txBody>
          <a:bodyPr wrap="none">
            <a:spAutoFit/>
          </a:bodyPr>
          <a:lstStyle/>
          <a:p>
            <a:pPr>
              <a:defRPr sz="2200" b="1">
                <a:solidFill>
                  <a:srgbClr val="FFFFFF"/>
                </a:solidFill>
              </a:defRPr>
            </a:pPr>
            <a:r>
              <a:t>✅ What We've Built</a:t>
            </a:r>
          </a:p>
        </p:txBody>
      </p:sp>
      <p:sp>
        <p:nvSpPr>
          <p:cNvPr id="4" name="TextBox 3"/>
          <p:cNvSpPr txBox="1"/>
          <p:nvPr/>
        </p:nvSpPr>
        <p:spPr>
          <a:xfrm>
            <a:off x="731520" y="1463040"/>
            <a:ext cx="3840480" cy="2011680"/>
          </a:xfrm>
          <a:prstGeom prst="rect">
            <a:avLst/>
          </a:prstGeom>
          <a:noFill/>
        </p:spPr>
        <p:txBody>
          <a:bodyPr wrap="square">
            <a:spAutoFit/>
          </a:bodyPr>
          <a:lstStyle/>
          <a:p>
            <a:pPr>
              <a:spcAft>
                <a:spcPts val="800"/>
              </a:spcAft>
              <a:defRPr sz="1500">
                <a:solidFill>
                  <a:srgbClr val="FFFFFF"/>
                </a:solidFill>
              </a:defRPr>
            </a:pPr>
            <a:r>
              <a:t>• Authentication system with .edu verification</a:t>
            </a:r>
          </a:p>
          <a:p>
            <a:pPr>
              <a:spcAft>
                <a:spcPts val="800"/>
              </a:spcAft>
              <a:defRPr sz="1500">
                <a:solidFill>
                  <a:srgbClr val="FFFFFF"/>
                </a:solidFill>
              </a:defRPr>
            </a:pPr>
            <a:r>
              <a:t>• Student organization dashboard</a:t>
            </a:r>
          </a:p>
          <a:p>
            <a:pPr>
              <a:spcAft>
                <a:spcPts val="800"/>
              </a:spcAft>
              <a:defRPr sz="1500">
                <a:solidFill>
                  <a:srgbClr val="FFFFFF"/>
                </a:solidFill>
              </a:defRPr>
            </a:pPr>
            <a:r>
              <a:t>• Backend API for venue management</a:t>
            </a:r>
          </a:p>
          <a:p>
            <a:pPr>
              <a:spcAft>
                <a:spcPts val="800"/>
              </a:spcAft>
              <a:defRPr sz="1500">
                <a:solidFill>
                  <a:srgbClr val="FFFFFF"/>
                </a:solidFill>
              </a:defRPr>
            </a:pPr>
            <a:r>
              <a:t>• Database schema (4 tables, PostgreSQL)</a:t>
            </a:r>
          </a:p>
          <a:p>
            <a:pPr>
              <a:spcAft>
                <a:spcPts val="800"/>
              </a:spcAft>
              <a:defRPr sz="1500">
                <a:solidFill>
                  <a:srgbClr val="FFFFFF"/>
                </a:solidFill>
              </a:defRPr>
            </a:pPr>
            <a:r>
              <a:t>• AI-powered development workflow</a:t>
            </a:r>
          </a:p>
        </p:txBody>
      </p:sp>
      <p:sp>
        <p:nvSpPr>
          <p:cNvPr id="5" name="TextBox 4"/>
          <p:cNvSpPr txBox="1"/>
          <p:nvPr/>
        </p:nvSpPr>
        <p:spPr>
          <a:xfrm>
            <a:off x="4754880" y="1005840"/>
            <a:ext cx="3657600" cy="365760"/>
          </a:xfrm>
          <a:prstGeom prst="rect">
            <a:avLst/>
          </a:prstGeom>
          <a:noFill/>
        </p:spPr>
        <p:txBody>
          <a:bodyPr wrap="none">
            <a:spAutoFit/>
          </a:bodyPr>
          <a:lstStyle/>
          <a:p>
            <a:pPr>
              <a:defRPr sz="2200" b="1">
                <a:solidFill>
                  <a:srgbClr val="FFFFFF"/>
                </a:solidFill>
              </a:defRPr>
            </a:pPr>
            <a:r>
              <a:t>🔨 What's Left to Build</a:t>
            </a:r>
          </a:p>
        </p:txBody>
      </p:sp>
      <p:sp>
        <p:nvSpPr>
          <p:cNvPr id="6" name="TextBox 5"/>
          <p:cNvSpPr txBox="1"/>
          <p:nvPr/>
        </p:nvSpPr>
        <p:spPr>
          <a:xfrm>
            <a:off x="4754880" y="1463040"/>
            <a:ext cx="3657600" cy="1371600"/>
          </a:xfrm>
          <a:prstGeom prst="rect">
            <a:avLst/>
          </a:prstGeom>
          <a:noFill/>
        </p:spPr>
        <p:txBody>
          <a:bodyPr wrap="square">
            <a:spAutoFit/>
          </a:bodyPr>
          <a:lstStyle/>
          <a:p>
            <a:pPr>
              <a:spcAft>
                <a:spcPts val="800"/>
              </a:spcAft>
              <a:defRPr sz="1500">
                <a:solidFill>
                  <a:srgbClr val="888888"/>
                </a:solidFill>
              </a:defRPr>
            </a:pPr>
            <a:r>
              <a:t>• Venue discovery page with search/filters</a:t>
            </a:r>
          </a:p>
          <a:p>
            <a:pPr>
              <a:spcAft>
                <a:spcPts val="800"/>
              </a:spcAft>
              <a:defRPr sz="1500">
                <a:solidFill>
                  <a:srgbClr val="888888"/>
                </a:solidFill>
              </a:defRPr>
            </a:pPr>
            <a:r>
              <a:t>• Booking request flow</a:t>
            </a:r>
          </a:p>
          <a:p>
            <a:pPr>
              <a:spcAft>
                <a:spcPts val="800"/>
              </a:spcAft>
              <a:defRPr sz="1500">
                <a:solidFill>
                  <a:srgbClr val="888888"/>
                </a:solidFill>
              </a:defRPr>
            </a:pPr>
            <a:r>
              <a:t>• Venue admin dashboard</a:t>
            </a:r>
          </a:p>
          <a:p>
            <a:pPr>
              <a:spcAft>
                <a:spcPts val="800"/>
              </a:spcAft>
              <a:defRPr sz="1500">
                <a:solidFill>
                  <a:srgbClr val="888888"/>
                </a:solidFill>
              </a:defRPr>
            </a:pPr>
            <a:r>
              <a:t>• Payment processing integration</a:t>
            </a:r>
          </a:p>
        </p:txBody>
      </p:sp>
      <p:sp>
        <p:nvSpPr>
          <p:cNvPr id="7" name="TextBox 6"/>
          <p:cNvSpPr txBox="1"/>
          <p:nvPr/>
        </p:nvSpPr>
        <p:spPr>
          <a:xfrm>
            <a:off x="4754880" y="3474720"/>
            <a:ext cx="3657600" cy="365760"/>
          </a:xfrm>
          <a:prstGeom prst="rect">
            <a:avLst/>
          </a:prstGeom>
          <a:noFill/>
        </p:spPr>
        <p:txBody>
          <a:bodyPr wrap="none">
            <a:spAutoFit/>
          </a:bodyPr>
          <a:lstStyle/>
          <a:p>
            <a:pPr>
              <a:defRPr sz="2200" b="1">
                <a:solidFill>
                  <a:srgbClr val="FFFFFF"/>
                </a:solidFill>
              </a:defRPr>
            </a:pPr>
            <a:r>
              <a:t>📋 Validation Plan</a:t>
            </a:r>
          </a:p>
        </p:txBody>
      </p:sp>
      <p:sp>
        <p:nvSpPr>
          <p:cNvPr id="8" name="TextBox 7"/>
          <p:cNvSpPr txBox="1"/>
          <p:nvPr/>
        </p:nvSpPr>
        <p:spPr>
          <a:xfrm>
            <a:off x="4754880" y="3931920"/>
            <a:ext cx="3657600" cy="731520"/>
          </a:xfrm>
          <a:prstGeom prst="rect">
            <a:avLst/>
          </a:prstGeom>
          <a:noFill/>
        </p:spPr>
        <p:txBody>
          <a:bodyPr wrap="square">
            <a:spAutoFit/>
          </a:bodyPr>
          <a:lstStyle/>
          <a:p>
            <a:pPr>
              <a:defRPr sz="1400">
                <a:solidFill>
                  <a:srgbClr val="FFFFFF"/>
                </a:solidFill>
              </a:defRPr>
            </a:pPr>
            <a:r>
              <a:t>• Survey prepared for student orgs &amp; venues</a:t>
            </a:r>
          </a:p>
          <a:p>
            <a:r>
              <a:t>• Planning interviews with 10+ bars and 10+ student organizations at Ohio State</a:t>
            </a:r>
          </a:p>
        </p:txBody>
      </p:sp>
      <p:sp>
        <p:nvSpPr>
          <p:cNvPr id="9" name="TextBox 8"/>
          <p:cNvSpPr txBox="1"/>
          <p:nvPr/>
        </p:nvSpPr>
        <p:spPr>
          <a:xfrm>
            <a:off x="731520" y="4480560"/>
            <a:ext cx="7772400" cy="274320"/>
          </a:xfrm>
          <a:prstGeom prst="rect">
            <a:avLst/>
          </a:prstGeom>
          <a:noFill/>
        </p:spPr>
        <p:txBody>
          <a:bodyPr wrap="none">
            <a:spAutoFit/>
          </a:bodyPr>
          <a:lstStyle/>
          <a:p>
            <a:pPr algn="ctr">
              <a:defRPr sz="1200">
                <a:solidFill>
                  <a:srgbClr val="888888"/>
                </a:solidFill>
              </a:defRPr>
            </a:pPr>
            <a:r>
              <a:t>Tech: React + TypeScript + Mantine UI • FastAPI + PostgreSQL • Railway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lgn="ctr">
              <a:defRPr sz="3600" b="1">
                <a:solidFill>
                  <a:srgbClr val="FFFFFF"/>
                </a:solidFill>
              </a:defRPr>
            </a:pPr>
            <a:r>
              <a:t>Why We're Building This</a:t>
            </a:r>
          </a:p>
        </p:txBody>
      </p:sp>
      <p:sp>
        <p:nvSpPr>
          <p:cNvPr id="3" name="TextBox 2"/>
          <p:cNvSpPr txBox="1"/>
          <p:nvPr/>
        </p:nvSpPr>
        <p:spPr>
          <a:xfrm>
            <a:off x="1371600" y="1097280"/>
            <a:ext cx="6400800" cy="365760"/>
          </a:xfrm>
          <a:prstGeom prst="rect">
            <a:avLst/>
          </a:prstGeom>
          <a:noFill/>
        </p:spPr>
        <p:txBody>
          <a:bodyPr wrap="none">
            <a:spAutoFit/>
          </a:bodyPr>
          <a:lstStyle/>
          <a:p>
            <a:pPr algn="ctr">
              <a:defRPr sz="2400" b="1">
                <a:solidFill>
                  <a:srgbClr val="FFFFFF"/>
                </a:solidFill>
              </a:defRPr>
            </a:pPr>
            <a:r>
              <a:t>👥 Personal Connection</a:t>
            </a:r>
          </a:p>
        </p:txBody>
      </p:sp>
      <p:sp>
        <p:nvSpPr>
          <p:cNvPr id="4" name="TextBox 3"/>
          <p:cNvSpPr txBox="1"/>
          <p:nvPr/>
        </p:nvSpPr>
        <p:spPr>
          <a:xfrm>
            <a:off x="1371600" y="1645919"/>
            <a:ext cx="6400800" cy="1463040"/>
          </a:xfrm>
          <a:prstGeom prst="rect">
            <a:avLst/>
          </a:prstGeom>
          <a:noFill/>
        </p:spPr>
        <p:txBody>
          <a:bodyPr wrap="square">
            <a:spAutoFit/>
          </a:bodyPr>
          <a:lstStyle/>
          <a:p>
            <a:pPr>
              <a:spcAft>
                <a:spcPts val="1000"/>
              </a:spcAft>
              <a:defRPr sz="1600">
                <a:solidFill>
                  <a:srgbClr val="FFFFFF"/>
                </a:solidFill>
              </a:defRPr>
            </a:pPr>
            <a:r>
              <a:t>• We're fraternity brothers who've lived this exact problem</a:t>
            </a:r>
          </a:p>
          <a:p>
            <a:pPr>
              <a:spcAft>
                <a:spcPts val="1000"/>
              </a:spcAft>
              <a:defRPr sz="1600">
                <a:solidFill>
                  <a:srgbClr val="FFFFFF"/>
                </a:solidFill>
              </a:defRPr>
            </a:pPr>
            <a:r>
              <a:t>• Spent hours calling 10+ bars just to find one available date</a:t>
            </a:r>
          </a:p>
          <a:p>
            <a:pPr>
              <a:spcAft>
                <a:spcPts val="1000"/>
              </a:spcAft>
              <a:defRPr sz="1600">
                <a:solidFill>
                  <a:srgbClr val="FFFFFF"/>
                </a:solidFill>
              </a:defRPr>
            </a:pPr>
            <a:r>
              <a:t>• Experienced the frustration of coordinating events firsthand</a:t>
            </a:r>
          </a:p>
          <a:p>
            <a:pPr>
              <a:spcAft>
                <a:spcPts val="1000"/>
              </a:spcAft>
              <a:defRPr sz="1600">
                <a:solidFill>
                  <a:srgbClr val="FFFFFF"/>
                </a:solidFill>
              </a:defRPr>
            </a:pPr>
            <a:r>
              <a:t>• We ARE the customer - we understand the pain deeply</a:t>
            </a:r>
          </a:p>
        </p:txBody>
      </p:sp>
      <p:sp>
        <p:nvSpPr>
          <p:cNvPr id="5" name="TextBox 4"/>
          <p:cNvSpPr txBox="1"/>
          <p:nvPr/>
        </p:nvSpPr>
        <p:spPr>
          <a:xfrm>
            <a:off x="1371600" y="2926080"/>
            <a:ext cx="6400800" cy="365760"/>
          </a:xfrm>
          <a:prstGeom prst="rect">
            <a:avLst/>
          </a:prstGeom>
          <a:noFill/>
        </p:spPr>
        <p:txBody>
          <a:bodyPr wrap="none">
            <a:spAutoFit/>
          </a:bodyPr>
          <a:lstStyle/>
          <a:p>
            <a:pPr algn="ctr">
              <a:defRPr sz="2400" b="1">
                <a:solidFill>
                  <a:srgbClr val="FFFFFF"/>
                </a:solidFill>
              </a:defRPr>
            </a:pPr>
            <a:r>
              <a:t>🎯 Market Insight</a:t>
            </a:r>
          </a:p>
        </p:txBody>
      </p:sp>
      <p:sp>
        <p:nvSpPr>
          <p:cNvPr id="6" name="TextBox 5"/>
          <p:cNvSpPr txBox="1"/>
          <p:nvPr/>
        </p:nvSpPr>
        <p:spPr>
          <a:xfrm>
            <a:off x="1371600" y="3474720"/>
            <a:ext cx="6400800" cy="1280160"/>
          </a:xfrm>
          <a:prstGeom prst="rect">
            <a:avLst/>
          </a:prstGeom>
          <a:noFill/>
        </p:spPr>
        <p:txBody>
          <a:bodyPr wrap="square">
            <a:spAutoFit/>
          </a:bodyPr>
          <a:lstStyle/>
          <a:p>
            <a:pPr>
              <a:spcAft>
                <a:spcPts val="800"/>
              </a:spcAft>
              <a:defRPr sz="1600">
                <a:solidFill>
                  <a:srgbClr val="FFFFFF"/>
                </a:solidFill>
              </a:defRPr>
            </a:pPr>
            <a:r>
              <a:t>• Hundreds of student organizations at each university</a:t>
            </a:r>
          </a:p>
          <a:p>
            <a:pPr>
              <a:spcAft>
                <a:spcPts val="800"/>
              </a:spcAft>
              <a:defRPr sz="1600">
                <a:solidFill>
                  <a:srgbClr val="FFFFFF"/>
                </a:solidFill>
              </a:defRPr>
            </a:pPr>
            <a:r>
              <a:t>• Each org books multiple events per semester</a:t>
            </a:r>
          </a:p>
          <a:p>
            <a:pPr>
              <a:spcAft>
                <a:spcPts val="800"/>
              </a:spcAft>
              <a:defRPr sz="1600">
                <a:solidFill>
                  <a:srgbClr val="FFFFFF"/>
                </a:solidFill>
              </a:defRPr>
            </a:pPr>
            <a:r>
              <a:t>• Venues want consistent student group business</a:t>
            </a:r>
          </a:p>
          <a:p>
            <a:pPr>
              <a:spcAft>
                <a:spcPts val="800"/>
              </a:spcAft>
              <a:defRPr sz="1600">
                <a:solidFill>
                  <a:srgbClr val="FFFFFF"/>
                </a:solidFill>
              </a:defRPr>
            </a:pPr>
            <a:r>
              <a:t>• No existing platform connects these two groups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TextBox 1"/>
          <p:cNvSpPr txBox="1"/>
          <p:nvPr/>
        </p:nvSpPr>
        <p:spPr>
          <a:xfrm>
            <a:off x="457200" y="457200"/>
            <a:ext cx="8229600" cy="548640"/>
          </a:xfrm>
          <a:prstGeom prst="rect">
            <a:avLst/>
          </a:prstGeom>
          <a:noFill/>
        </p:spPr>
        <p:txBody>
          <a:bodyPr wrap="none">
            <a:spAutoFit/>
          </a:bodyPr>
          <a:lstStyle/>
          <a:p>
            <a:pPr algn="ctr">
              <a:defRPr sz="4800" b="1">
                <a:solidFill>
                  <a:srgbClr val="FFFFFF"/>
                </a:solidFill>
              </a:defRPr>
            </a:pPr>
            <a:r>
              <a:t>VenueLink</a:t>
            </a:r>
          </a:p>
        </p:txBody>
      </p:sp>
      <p:sp>
        <p:nvSpPr>
          <p:cNvPr id="3" name="TextBox 2"/>
          <p:cNvSpPr txBox="1"/>
          <p:nvPr/>
        </p:nvSpPr>
        <p:spPr>
          <a:xfrm>
            <a:off x="457200" y="1097280"/>
            <a:ext cx="8229600" cy="365760"/>
          </a:xfrm>
          <a:prstGeom prst="rect">
            <a:avLst/>
          </a:prstGeom>
          <a:noFill/>
        </p:spPr>
        <p:txBody>
          <a:bodyPr wrap="none">
            <a:spAutoFit/>
          </a:bodyPr>
          <a:lstStyle/>
          <a:p>
            <a:pPr algn="ctr">
              <a:defRPr sz="2000">
                <a:solidFill>
                  <a:srgbClr val="FFFFFF"/>
                </a:solidFill>
              </a:defRPr>
            </a:pPr>
            <a:r>
              <a:t>Michael Gorman &amp; Larry Stelzer</a:t>
            </a:r>
          </a:p>
        </p:txBody>
      </p:sp>
      <p:sp>
        <p:nvSpPr>
          <p:cNvPr id="4" name="TextBox 3"/>
          <p:cNvSpPr txBox="1"/>
          <p:nvPr/>
        </p:nvSpPr>
        <p:spPr>
          <a:xfrm>
            <a:off x="457200" y="1463040"/>
            <a:ext cx="8229600" cy="274320"/>
          </a:xfrm>
          <a:prstGeom prst="rect">
            <a:avLst/>
          </a:prstGeom>
          <a:noFill/>
        </p:spPr>
        <p:txBody>
          <a:bodyPr wrap="none">
            <a:spAutoFit/>
          </a:bodyPr>
          <a:lstStyle/>
          <a:p>
            <a:pPr algn="ctr">
              <a:defRPr sz="1600">
                <a:solidFill>
                  <a:srgbClr val="888888"/>
                </a:solidFill>
              </a:defRPr>
            </a:pPr>
            <a:r>
              <a:t>gorman.270 &amp; stelzer.69</a:t>
            </a:r>
          </a:p>
        </p:txBody>
      </p:sp>
      <p:sp>
        <p:nvSpPr>
          <p:cNvPr id="5" name="TextBox 4"/>
          <p:cNvSpPr txBox="1"/>
          <p:nvPr/>
        </p:nvSpPr>
        <p:spPr>
          <a:xfrm>
            <a:off x="1371600" y="2103120"/>
            <a:ext cx="6400800" cy="365760"/>
          </a:xfrm>
          <a:prstGeom prst="rect">
            <a:avLst/>
          </a:prstGeom>
          <a:noFill/>
        </p:spPr>
        <p:txBody>
          <a:bodyPr wrap="none">
            <a:spAutoFit/>
          </a:bodyPr>
          <a:lstStyle/>
          <a:p>
            <a:pPr algn="ctr">
              <a:defRPr sz="2600" b="1">
                <a:solidFill>
                  <a:srgbClr val="FFFFFF"/>
                </a:solidFill>
              </a:defRPr>
            </a:pPr>
            <a:r>
              <a:t>Next Steps</a:t>
            </a:r>
          </a:p>
        </p:txBody>
      </p:sp>
      <p:sp>
        <p:nvSpPr>
          <p:cNvPr id="6" name="TextBox 5"/>
          <p:cNvSpPr txBox="1"/>
          <p:nvPr/>
        </p:nvSpPr>
        <p:spPr>
          <a:xfrm>
            <a:off x="1371600" y="2651760"/>
            <a:ext cx="6400800" cy="1645920"/>
          </a:xfrm>
          <a:prstGeom prst="rect">
            <a:avLst/>
          </a:prstGeom>
          <a:noFill/>
        </p:spPr>
        <p:txBody>
          <a:bodyPr wrap="square">
            <a:spAutoFit/>
          </a:bodyPr>
          <a:lstStyle/>
          <a:p>
            <a:pPr algn="ctr">
              <a:spcAft>
                <a:spcPts val="1000"/>
              </a:spcAft>
              <a:defRPr sz="1600">
                <a:solidFill>
                  <a:srgbClr val="FFFFFF"/>
                </a:solidFill>
              </a:defRPr>
            </a:pPr>
            <a:r>
              <a:t>• Complete venue discovery and booking flow (2 weeks)</a:t>
            </a:r>
          </a:p>
          <a:p>
            <a:pPr algn="ctr">
              <a:spcAft>
                <a:spcPts val="1000"/>
              </a:spcAft>
              <a:defRPr sz="1600">
                <a:solidFill>
                  <a:srgbClr val="FFFFFF"/>
                </a:solidFill>
              </a:defRPr>
            </a:pPr>
            <a:r>
              <a:t>• Conduct validation interviews with student orgs &amp; venues</a:t>
            </a:r>
          </a:p>
          <a:p>
            <a:pPr algn="ctr">
              <a:spcAft>
                <a:spcPts val="1000"/>
              </a:spcAft>
              <a:defRPr sz="1600">
                <a:solidFill>
                  <a:srgbClr val="FFFFFF"/>
                </a:solidFill>
              </a:defRPr>
            </a:pPr>
            <a:r>
              <a:t>• Onboard first 5 venues and 3 student orgs at OSU</a:t>
            </a:r>
          </a:p>
          <a:p>
            <a:pPr algn="ctr">
              <a:spcAft>
                <a:spcPts val="1000"/>
              </a:spcAft>
              <a:defRPr sz="1600">
                <a:solidFill>
                  <a:srgbClr val="FFFFFF"/>
                </a:solidFill>
              </a:defRPr>
            </a:pPr>
            <a:r>
              <a:t>• Beta launch at Ohio State (3 months)</a:t>
            </a:r>
          </a:p>
        </p:txBody>
      </p:sp>
      <p:sp>
        <p:nvSpPr>
          <p:cNvPr id="7" name="TextBox 6"/>
          <p:cNvSpPr txBox="1"/>
          <p:nvPr/>
        </p:nvSpPr>
        <p:spPr>
          <a:xfrm>
            <a:off x="1371600" y="4206240"/>
            <a:ext cx="6400800" cy="548640"/>
          </a:xfrm>
          <a:prstGeom prst="rect">
            <a:avLst/>
          </a:prstGeom>
          <a:noFill/>
        </p:spPr>
        <p:txBody>
          <a:bodyPr wrap="none">
            <a:spAutoFit/>
          </a:bodyPr>
          <a:lstStyle/>
          <a:p>
            <a:pPr algn="ctr">
              <a:defRPr sz="1600" b="1">
                <a:solidFill>
                  <a:srgbClr val="FFFFFF"/>
                </a:solidFill>
              </a:defRPr>
            </a:pPr>
            <a:r>
              <a:t>Let's connect if you're interested in early venue partnerships</a:t>
            </a:r>
          </a:p>
          <a:p>
            <a:r>
              <a:t>or want to be part of shaping this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